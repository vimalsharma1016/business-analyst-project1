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Bikes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Pacific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55432000</c:v>
                </c:pt>
                <c:pt idx="1">
                  <c:v>9122000</c:v>
                </c:pt>
                <c:pt idx="2">
                  <c:v>1273000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Components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Pacific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10456000</c:v>
                </c:pt>
                <c:pt idx="1">
                  <c:v>1100000</c:v>
                </c:pt>
                <c:pt idx="2">
                  <c:v>252000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Clothing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Pacific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1680000</c:v>
                </c:pt>
                <c:pt idx="1">
                  <c:v>93000</c:v>
                </c:pt>
                <c:pt idx="2">
                  <c:v>28000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Accessories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Pacific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532000</c:v>
                </c:pt>
                <c:pt idx="1">
                  <c:v>78000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3E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1C40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C3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CF0F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AB7B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Black</c:v>
                  </c:pt>
                  <c:pt idx="1">
                    <c:v>Yellow</c:v>
                  </c:pt>
                  <c:pt idx="2">
                    <c:v>Red</c:v>
                  </c:pt>
                  <c:pt idx="3">
                    <c:v>Silver</c:v>
                  </c:pt>
                  <c:pt idx="4">
                    <c:v>Multi</c:v>
                  </c:pt>
                  <c:pt idx="5">
                    <c:v>Blue</c:v>
                  </c:pt>
                  <c:pt idx="6">
                    <c:v>White</c:v>
                  </c:pt>
                  <c:pt idx="7">
                    <c:v>Silver/Blk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72094</c:v>
                </c:pt>
                <c:pt idx="1">
                  <c:v>27757</c:v>
                </c:pt>
                <c:pt idx="2">
                  <c:v>24280</c:v>
                </c:pt>
                <c:pt idx="3">
                  <c:v>21599</c:v>
                </c:pt>
                <c:pt idx="4">
                  <c:v>21147</c:v>
                </c:pt>
                <c:pt idx="5">
                  <c:v>19689</c:v>
                </c:pt>
                <c:pt idx="6">
                  <c:v>4649</c:v>
                </c:pt>
                <c:pt idx="7">
                  <c:v>3931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Bikes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977635</c:v>
                </c:pt>
                <c:pt idx="1">
                  <c:v>9226391</c:v>
                </c:pt>
                <c:pt idx="2">
                  <c:v>20756277</c:v>
                </c:pt>
                <c:pt idx="3">
                  <c:v>26479393</c:v>
                </c:pt>
                <c:pt idx="4">
                  <c:v>17561092</c:v>
                </c:pt>
                <c:pt idx="5">
                  <c:v>5875308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Components</c:v>
                </c:pt>
              </c:strCache>
            </c:strRef>
          </c:tx>
          <c:spPr>
            <a:solidFill>
              <a:srgbClr val="00897B"/>
            </a:solidFill>
            <a:ln w="38100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126000</c:v>
                </c:pt>
                <c:pt idx="1">
                  <c:v>1450000</c:v>
                </c:pt>
                <c:pt idx="2">
                  <c:v>3100000</c:v>
                </c:pt>
                <c:pt idx="3">
                  <c:v>3900000</c:v>
                </c:pt>
                <c:pt idx="4">
                  <c:v>2500000</c:v>
                </c:pt>
                <c:pt idx="5">
                  <c:v>730000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Clothing</c:v>
                </c:pt>
              </c:strCache>
            </c:strRef>
          </c:tx>
          <c:spPr>
            <a:solidFill>
              <a:srgbClr val="E65100"/>
            </a:solidFill>
            <a:ln w="381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18000</c:v>
                </c:pt>
                <c:pt idx="1">
                  <c:v>224000</c:v>
                </c:pt>
                <c:pt idx="2">
                  <c:v>410000</c:v>
                </c:pt>
                <c:pt idx="3">
                  <c:v>680000</c:v>
                </c:pt>
                <c:pt idx="4">
                  <c:v>390000</c:v>
                </c:pt>
                <c:pt idx="5">
                  <c:v>79000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1259710</c:v>
                </c:pt>
                <c:pt idx="1">
                  <c:v>20993650</c:v>
                </c:pt>
                <c:pt idx="2">
                  <c:v>17366570</c:v>
                </c:pt>
                <c:pt idx="3">
                  <c:v>15771830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$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Store</c:v>
                  </c:pt>
                  <c:pt idx="1">
                    <c:v>Online</c:v>
                  </c:pt>
                  <c:pt idx="2">
                    <c:v>Reseller</c:v>
                  </c:pt>
                  <c:pt idx="3">
                    <c:v>Catalog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31720650</c:v>
                </c:pt>
                <c:pt idx="1">
                  <c:v>11500210</c:v>
                </c:pt>
                <c:pt idx="2">
                  <c:v>7170614</c:v>
                </c:pt>
                <c:pt idx="3">
                  <c:v>5000291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bubble3D val="0"/>
            <c:spPr>
              <a:solidFill>
                <a:srgbClr val="6A1B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Bikes 82.5%</c:v>
                </c:pt>
                <c:pt idx="1">
                  <c:v>Components 14.6%</c:v>
                </c:pt>
                <c:pt idx="2">
                  <c:v>Clothing 2.2%</c:v>
                </c:pt>
                <c:pt idx="3">
                  <c:v>Accessories 0.7%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66827511</c:v>
                </c:pt>
                <c:pt idx="1">
                  <c:v>11807764</c:v>
                </c:pt>
                <c:pt idx="2">
                  <c:v>1801581</c:v>
                </c:pt>
                <c:pt idx="3">
                  <c:v>577969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bubble3D val="0"/>
            <c:spPr>
              <a:solidFill>
                <a:srgbClr val="6A1B9A"/>
              </a:solidFill>
              <a:effectLst/>
            </c:spPr>
          </c:dPt>
          <c:dPt>
            <c:idx val="4"/>
            <c:bubble3D val="0"/>
            <c:spPr>
              <a:solidFill>
                <a:srgbClr val="F9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Computers 38.5%</c:v>
                </c:pt>
                <c:pt idx="1">
                  <c:v>Cameras 30.8%</c:v>
                </c:pt>
                <c:pt idx="2">
                  <c:v>TV &amp; Video 16.4%</c:v>
                </c:pt>
                <c:pt idx="3">
                  <c:v>Cell Phones 10.5%</c:v>
                </c:pt>
                <c:pt idx="4">
                  <c:v>Others 3.8%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21306970</c:v>
                </c:pt>
                <c:pt idx="1">
                  <c:v>17048930</c:v>
                </c:pt>
                <c:pt idx="2">
                  <c:v>9107839</c:v>
                </c:pt>
                <c:pt idx="3">
                  <c:v>5841156</c:v>
                </c:pt>
                <c:pt idx="4">
                  <c:v>2086821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AD14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D14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1B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1E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629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Logistics</c:v>
                  </c:pt>
                  <c:pt idx="2">
                    <c:v>Production</c:v>
                  </c:pt>
                  <c:pt idx="3">
                    <c:v>Sales</c:v>
                  </c:pt>
                  <c:pt idx="4">
                    <c:v>HR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8</c:v>
                </c:pt>
                <c:pt idx="2">
                  <c:v>14</c:v>
                </c:pt>
                <c:pt idx="3">
                  <c:v>11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$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E24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B47B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Logistics</c:v>
                  </c:pt>
                  <c:pt idx="1">
                    <c:v>Finance</c:v>
                  </c:pt>
                  <c:pt idx="2">
                    <c:v>HR</c:v>
                  </c:pt>
                  <c:pt idx="3">
                    <c:v>Production</c:v>
                  </c:pt>
                  <c:pt idx="4">
                    <c:v>Sales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2773</c:v>
                </c:pt>
                <c:pt idx="1">
                  <c:v>2715</c:v>
                </c:pt>
                <c:pt idx="2">
                  <c:v>2598</c:v>
                </c:pt>
                <c:pt idx="3">
                  <c:v>2302</c:v>
                </c:pt>
                <c:pt idx="4">
                  <c:v>2088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E91E6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58%</c:v>
                </c:pt>
                <c:pt idx="1">
                  <c:v>Female 42%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</c:v>
                </c:pt>
                <c:pt idx="1">
                  <c:v>42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Workshop Cost $</c:v>
                </c:pt>
              </c:strCache>
            </c:strRef>
          </c:tx>
          <c:spPr>
            <a:solidFill>
              <a:srgbClr val="AD1457"/>
            </a:solidFill>
            <a:ln w="38100" cap="flat">
              <a:solidFill>
                <a:srgbClr val="AD14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D1457"/>
              </a:solidFill>
              <a:ln w="9525" cap="flat">
                <a:solidFill>
                  <a:srgbClr val="AD14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33150</c:v>
                </c:pt>
                <c:pt idx="1">
                  <c:v>128200</c:v>
                </c:pt>
                <c:pt idx="2">
                  <c:v>126350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D1457"/>
              </a:solidFill>
              <a:effectLst/>
            </c:spPr>
          </c:dPt>
          <c:dPt>
            <c:idx val="1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Admin 42%</c:v>
                </c:pt>
                <c:pt idx="1">
                  <c:v>Operations 42%</c:v>
                </c:pt>
                <c:pt idx="2">
                  <c:v>Management 16%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21</c:v>
                </c:pt>
                <c:pt idx="1">
                  <c:v>21</c:v>
                </c:pt>
                <c:pt idx="2">
                  <c:v>8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chart" Target="/ppt/charts/chart11.xml"/><Relationship Id="rId5" Type="http://schemas.openxmlformats.org/officeDocument/2006/relationships/chart" Target="/ppt/charts/chart12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0"/>
            <a:ext cx="731520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" y="3108960"/>
            <a:ext cx="228600" cy="2286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" y="3474720"/>
            <a:ext cx="228600" cy="2286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A825"/>
                </a:solidFill>
              </a:rPr>
              <a:t>BUSINESS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Power BI Analytics Dashboard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EC5"/>
                </a:solidFill>
              </a:rPr>
              <a:t>Sales · Revenue · HR · Workforce Insights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2560320" cy="502920"/>
          </a:xfrm>
          <a:prstGeom prst="rect">
            <a:avLst/>
          </a:prstGeom>
          <a:solidFill>
            <a:srgbClr val="162B5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TrainingData1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4114800"/>
            <a:ext cx="2560320" cy="502920"/>
          </a:xfrm>
          <a:prstGeom prst="rect">
            <a:avLst/>
          </a:prstGeom>
          <a:solidFill>
            <a:srgbClr val="162B5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TrainingSample2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2560320" cy="502920"/>
          </a:xfrm>
          <a:prstGeom prst="rect">
            <a:avLst/>
          </a:prstGeom>
          <a:solidFill>
            <a:srgbClr val="162B5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Employee Master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4114800"/>
            <a:ext cx="2560320" cy="502920"/>
          </a:xfrm>
          <a:prstGeom prst="rect">
            <a:avLst/>
          </a:prstGeom>
          <a:solidFill>
            <a:srgbClr val="162B5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0" y="4114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Date Master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Aggregations · Cards · % Calc · Column · Line · Area · Pie · Treemap · Decomposition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Prepared with PptxGenJS  | 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KPI SUMMARY CARDS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Aggregation Methods: SUM · AVERAGE · COUNT · MIN · MAX · PERCENTAGE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60604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164592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Total Bike Revenue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$81.0M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SUM of UnitPrice × OrderQty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1887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188720"/>
            <a:ext cx="260604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64592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COUNT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2783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4612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97B"/>
                </a:solidFill>
              </a:rPr>
              <a:t>60,919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46120" y="2926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COUNT of Order Records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1887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88720"/>
            <a:ext cx="2606040" cy="38404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9560" y="164592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0819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5100"/>
                </a:solidFill>
              </a:rPr>
              <a:t>$1,330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26480" y="2926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AVERAGE per transaction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15400" y="11887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15400" y="1188720"/>
            <a:ext cx="2606040" cy="38404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89920" y="164592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6A1B9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8992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988552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🚲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06840" y="2103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Total Units Sold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0684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1B9A"/>
                </a:solidFill>
              </a:rPr>
              <a:t>214,516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006840" y="2926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SUM of OrderQty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7490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749040"/>
            <a:ext cx="2606040" cy="384048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39" name="Shape 37"/>
          <p:cNvSpPr/>
          <p:nvPr/>
        </p:nvSpPr>
        <p:spPr>
          <a:xfrm>
            <a:off x="2148840" y="42062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0277BD"/>
          </a:solidFill>
          <a:ln/>
        </p:spPr>
      </p:sp>
      <p:sp>
        <p:nvSpPr>
          <p:cNvPr id="40" name="Text 38"/>
          <p:cNvSpPr/>
          <p:nvPr/>
        </p:nvSpPr>
        <p:spPr>
          <a:xfrm>
            <a:off x="2148840" y="4206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Electronics Sales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77BD"/>
                </a:solidFill>
              </a:rPr>
              <a:t>$55.4M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365760" y="5486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SUM across 15K orders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54680" y="37490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54680" y="3749040"/>
            <a:ext cx="260604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0" y="42062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4206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2783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46120" y="4663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4612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57.0%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3246120" y="5486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Profit / Sales × 100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35040" y="37490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35040" y="3749040"/>
            <a:ext cx="2606040" cy="384048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55" name="Shape 53"/>
          <p:cNvSpPr/>
          <p:nvPr/>
        </p:nvSpPr>
        <p:spPr>
          <a:xfrm>
            <a:off x="7909560" y="42062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AD1457"/>
          </a:solidFill>
          <a:ln/>
        </p:spPr>
      </p:sp>
      <p:sp>
        <p:nvSpPr>
          <p:cNvPr id="56" name="Text 54"/>
          <p:cNvSpPr/>
          <p:nvPr/>
        </p:nvSpPr>
        <p:spPr>
          <a:xfrm>
            <a:off x="7909560" y="4206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COUNT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0819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126480" y="4663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Employees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12648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D1457"/>
                </a:solidFill>
              </a:rPr>
              <a:t>50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6126480" y="5486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COUNT of staff records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915400" y="374904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915400" y="3749040"/>
            <a:ext cx="2606040" cy="3840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3" name="Shape 61"/>
          <p:cNvSpPr/>
          <p:nvPr/>
        </p:nvSpPr>
        <p:spPr>
          <a:xfrm>
            <a:off x="10789920" y="4206240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00695C"/>
          </a:solidFill>
          <a:ln/>
        </p:spPr>
      </p:sp>
      <p:sp>
        <p:nvSpPr>
          <p:cNvPr id="64" name="Text 62"/>
          <p:cNvSpPr/>
          <p:nvPr/>
        </p:nvSpPr>
        <p:spPr>
          <a:xfrm>
            <a:off x="10789920" y="4206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98855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💵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06840" y="4663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Avg Salary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00684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95C"/>
                </a:solidFill>
              </a:rPr>
              <a:t>$2,457</a:t>
            </a:r>
            <a:endParaRPr lang="en-US" sz="2400" dirty="0"/>
          </a:p>
        </p:txBody>
      </p:sp>
      <p:sp>
        <p:nvSpPr>
          <p:cNvPr id="68" name="Text 66"/>
          <p:cNvSpPr/>
          <p:nvPr/>
        </p:nvSpPr>
        <p:spPr>
          <a:xfrm>
            <a:off x="9006840" y="5486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AVERAGE monthly salary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STACKED COLUMN &amp; BAR CHARTS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Revenue by Region × Business Segment  |  Units Sold by Color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76656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Revenue by Region &amp; Segment (Stacked Column)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0876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051560"/>
            <a:ext cx="457200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Units Sold by Color (Bar)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7406640" y="1508760"/>
          <a:ext cx="4389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LINE &amp; AREA CHARTS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</a:rPr>
              <a:t>Revenue Trend Analysis  |  Bike Sales Year-over-Year  |  Electronics Sales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6128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Annual Revenue Trend by Segment (Line Chart — Multi Series)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63040"/>
          <a:ext cx="11430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977640"/>
            <a:ext cx="79552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Electronics Sales Trend by Year (Area Chart)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65760" y="4389120"/>
          <a:ext cx="7772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412480" y="3977640"/>
            <a:ext cx="3474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59536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Sales by Channel (Bar)</a:t>
            </a:r>
            <a:endParaRPr lang="en-US" sz="11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503920" y="4389120"/>
          <a:ext cx="33832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PIE CHARTS &amp; PERCENTAGE CALCULATIONS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3D8"/>
                </a:solidFill>
              </a:rPr>
              <a:t>Business Segment · Product Category · Channel Mix · Gender Split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486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Revenue by Business Segment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6304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1051560"/>
            <a:ext cx="5943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097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Electronics Sales by Product Category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035040" y="1463040"/>
          <a:ext cx="5760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4434840"/>
            <a:ext cx="11612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Percentage Calculation Method  |  Formula: (Segment Revenue ÷ Total Revenue) × 100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892040"/>
          <a:ext cx="11430000" cy="150876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371600"/>
                <a:gridCol w="54864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 ($)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Share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Aggregation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Bikes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$66,827,511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82.5%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SUM → DIVIDE → MULTIPLY × 100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Components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$11,807,764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14.6%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SUM → DIVIDE → MULTIPLY × 100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Clothing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$1,801,581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2.2%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SUM → DIVIDE → MULTIPLY × 100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Accessories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$577,969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SUM → DIVIDE → MULTIPLY × 100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$81,014,825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SUM ALL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TREEMAP VISUALIZATION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</a:rPr>
              <a:t>Revenue Distribution — Region × Category × Model Hierarchy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1168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9875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Bikes (82.5%)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01168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3438144" y="9875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Components (14.6%)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01168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8"/>
          <p:cNvSpPr/>
          <p:nvPr/>
        </p:nvSpPr>
        <p:spPr>
          <a:xfrm>
            <a:off x="6272784" y="9875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Clothing (2.2%)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0" y="1005840"/>
            <a:ext cx="201168" cy="2011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07424" y="9875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Accessories (0.7%)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371600"/>
            <a:ext cx="164592" cy="52120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 rot="16200000">
            <a:off x="274320" y="1371600"/>
            <a:ext cx="164592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NORTH AMERICA  68.4%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371600"/>
            <a:ext cx="5943600" cy="40233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508760"/>
            <a:ext cx="5669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BIKES — North America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$55,432,000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68.4% of Total Revenue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Leaders: Mountain-200, Road-250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371600"/>
            <a:ext cx="2286000" cy="4023360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554480"/>
            <a:ext cx="2103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Components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$10.5M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13.0%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1371600"/>
            <a:ext cx="1371600" cy="402336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0" y="1645920"/>
            <a:ext cx="1188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Clothing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$1.7M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2.1%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332720" y="1371600"/>
            <a:ext cx="1554480" cy="4023360"/>
          </a:xfrm>
          <a:prstGeom prst="rect">
            <a:avLst/>
          </a:prstGeom>
          <a:solidFill>
            <a:srgbClr val="42A5F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424160" y="1645920"/>
            <a:ext cx="1371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Accessories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$532K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5486400"/>
            <a:ext cx="164592" cy="100584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4" name="Text 22"/>
          <p:cNvSpPr/>
          <p:nvPr/>
        </p:nvSpPr>
        <p:spPr>
          <a:xfrm rot="16200000">
            <a:off x="274320" y="5486400"/>
            <a:ext cx="164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EU 13.6%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5669280" cy="91440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5577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BIKES — Europe  $9.1M  11.2%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5486400"/>
            <a:ext cx="1828800" cy="914400"/>
          </a:xfrm>
          <a:prstGeom prst="rect">
            <a:avLst/>
          </a:prstGeom>
          <a:solidFill>
            <a:srgbClr val="26A69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5577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Components EU $1.1M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38160" y="5486400"/>
            <a:ext cx="1371600" cy="914400"/>
          </a:xfrm>
          <a:prstGeom prst="rect">
            <a:avLst/>
          </a:prstGeom>
          <a:solidFill>
            <a:srgbClr val="4DB6A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0" y="55778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Pacific $1.6M 2%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DECOMPOSITION TREE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Total Revenue  →  Region  →  Category  →  Top Models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2834640"/>
            <a:ext cx="1828800" cy="5943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286207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" y="310896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$81.0M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3131820"/>
            <a:ext cx="640080" cy="-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0" y="1188720"/>
            <a:ext cx="1828800" cy="5943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07208" y="121615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North America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07208" y="14630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$68.4M (84.4%)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131820"/>
            <a:ext cx="640080" cy="-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743200" y="2651760"/>
            <a:ext cx="1828800" cy="59436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07208" y="267919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Europe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07208" y="29260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$11.0M (13.6%)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131820"/>
            <a:ext cx="640080" cy="1280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743200" y="4114800"/>
            <a:ext cx="1828800" cy="59436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07208" y="41422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Pacific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07208" y="438912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$1.6M (2.0%)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485900"/>
            <a:ext cx="914400" cy="-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0" y="594360"/>
            <a:ext cx="1828800" cy="59436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50408" y="62179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Bikes (NA)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0408" y="8686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$55.4M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485900"/>
            <a:ext cx="91440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0" y="1371600"/>
            <a:ext cx="1828800" cy="5943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50408" y="13990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Components (NA)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50408" y="164592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$10.5M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948940"/>
            <a:ext cx="914400" cy="-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486400" y="2194560"/>
            <a:ext cx="1828800" cy="59436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50408" y="222199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Clothing (NA)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0408" y="24688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$1.7M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2948940"/>
            <a:ext cx="91440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486400" y="3017520"/>
            <a:ext cx="1828800" cy="59436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50408" y="304495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Bikes (EU)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50408" y="32918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$9.1M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4411980"/>
            <a:ext cx="91440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86400" y="3749040"/>
            <a:ext cx="1828800" cy="594360"/>
          </a:xfrm>
          <a:prstGeom prst="rect">
            <a:avLst/>
          </a:prstGeom>
          <a:solidFill>
            <a:srgbClr val="26A69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50408" y="377647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Components (EU)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50408" y="402336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$1.1M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411980"/>
            <a:ext cx="91440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486400" y="4572000"/>
            <a:ext cx="1828800" cy="594360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50408" y="45994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Bikes (PAC)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50408" y="484632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$1.3M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0" y="891540"/>
            <a:ext cx="1005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321040" y="594360"/>
            <a:ext cx="1828800" cy="59436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385048" y="62179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Mountain-200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85048" y="8686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$14.4M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0" y="891540"/>
            <a:ext cx="100584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321040" y="1325880"/>
            <a:ext cx="1828800" cy="5943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385048" y="135331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Road-250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85048" y="160020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$9.4M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0" y="1668780"/>
            <a:ext cx="100584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8321040" y="2103120"/>
            <a:ext cx="1828800" cy="59436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385048" y="213055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Mountain-100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85048" y="23774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$8.7M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315200" y="2491740"/>
            <a:ext cx="1005840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8321040" y="2880360"/>
            <a:ext cx="1828800" cy="594360"/>
          </a:xfrm>
          <a:prstGeom prst="rect">
            <a:avLst/>
          </a:prstGeom>
          <a:solidFill>
            <a:srgbClr val="0277BD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385048" y="290779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Road-650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85048" y="315468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$7.5M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315200" y="3314700"/>
            <a:ext cx="100584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8321040" y="3657600"/>
            <a:ext cx="1828800" cy="59436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385048" y="36850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Touring-1000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85048" y="393192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$6.9M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15200" y="4046220"/>
            <a:ext cx="1005840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8321040" y="4434840"/>
            <a:ext cx="1828800" cy="594360"/>
          </a:xfrm>
          <a:prstGeom prst="rect">
            <a:avLst/>
          </a:prstGeom>
          <a:solidFill>
            <a:srgbClr val="26A69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385048" y="446227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Touring-2000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385048" y="470916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$5.1M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74320" y="6309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909C"/>
                </a:solidFill>
              </a:rPr>
              <a:t>TOTAL (Root)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017520" y="6309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909C"/>
                </a:solidFill>
              </a:rPr>
              <a:t>Region (L1)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760720" y="6309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909C"/>
                </a:solidFill>
              </a:rPr>
              <a:t>Category (L2)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503920" y="6309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909C"/>
                </a:solidFill>
              </a:rPr>
              <a:t>Top Model (L3)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HR EMPLOYEE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FB1"/>
                </a:solidFill>
              </a:rPr>
              <a:t>Headcount · Salary · Gender · Dept · Job Grade · Workshop Training Cost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82296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Total Staff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1457"/>
                </a:solidFill>
              </a:rPr>
              <a:t>50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AD1457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3716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73152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Total Payroll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261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1B9A"/>
                </a:solidFill>
              </a:rPr>
              <a:t>$122,832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0" y="137160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716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73152" cy="8229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Avg Salary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261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7BD"/>
                </a:solidFill>
              </a:rPr>
              <a:t>$2,457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55280" y="137160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0277BD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3716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052560" y="10058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52560" y="1005840"/>
            <a:ext cx="73152" cy="8229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1024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Male Staff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1261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5C"/>
                </a:solidFill>
              </a:rPr>
              <a:t>58%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881360" y="137160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0069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881360" y="13716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% Calc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011680"/>
            <a:ext cx="45720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057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Headcount by Department (Column)</a:t>
            </a:r>
            <a:endParaRPr lang="en-US" sz="11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365760" y="237744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5029200" y="201168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21208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Avg Salary by Department (Bar)</a:t>
            </a:r>
            <a:endParaRPr lang="en-US" sz="110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5120640" y="2377440"/>
          <a:ext cx="39319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Shape 31"/>
          <p:cNvSpPr/>
          <p:nvPr/>
        </p:nvSpPr>
        <p:spPr>
          <a:xfrm>
            <a:off x="9326880" y="20116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950976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Gender Split</a:t>
            </a:r>
            <a:endParaRPr lang="en-US" sz="1100" dirty="0"/>
          </a:p>
        </p:txBody>
      </p:sp>
      <p:graphicFrame>
        <p:nvGraphicFramePr>
          <p:cNvPr id="37" name="Chart 2" descr=""/>
          <p:cNvGraphicFramePr/>
          <p:nvPr/>
        </p:nvGraphicFramePr>
        <p:xfrm>
          <a:off x="9418320" y="2377440"/>
          <a:ext cx="2377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Shape 33"/>
          <p:cNvSpPr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45720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Training Workshop Cost by Year (Line Chart)</a:t>
            </a:r>
            <a:endParaRPr lang="en-US" sz="1100" dirty="0"/>
          </a:p>
        </p:txBody>
      </p:sp>
      <p:graphicFrame>
        <p:nvGraphicFramePr>
          <p:cNvPr id="40" name="Chart 3" descr=""/>
          <p:cNvGraphicFramePr/>
          <p:nvPr/>
        </p:nvGraphicFramePr>
        <p:xfrm>
          <a:off x="365760" y="5303520"/>
          <a:ext cx="77724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1" name="Shape 35"/>
          <p:cNvSpPr/>
          <p:nvPr/>
        </p:nvSpPr>
        <p:spPr>
          <a:xfrm>
            <a:off x="8321040" y="4937760"/>
            <a:ext cx="3566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850392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Job Grade Mix</a:t>
            </a:r>
            <a:endParaRPr lang="en-US" sz="1100" dirty="0"/>
          </a:p>
        </p:txBody>
      </p:sp>
      <p:graphicFrame>
        <p:nvGraphicFramePr>
          <p:cNvPr id="43" name="Chart 4" descr=""/>
          <p:cNvGraphicFramePr/>
          <p:nvPr/>
        </p:nvGraphicFramePr>
        <p:xfrm>
          <a:off x="8412480" y="5285232"/>
          <a:ext cx="338328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6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SUMMARY &amp; KEY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</a:rPr>
              <a:t>Aggregations Used Across All Visualizations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Cards &amp; KPIs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SUM, COUNT, AVERAGE, MIN/MAX aggregations used across 8 KPI cards for Bikes, Electronics, and HR datasets.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📉 Line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Multi-series revenue trend 2018–2023. Peak in 2021 at $26.5M. Electronics peaked in 2012 at $21M.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Column &amp; Bar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Stacked Column: Revenue by Region × Segment. Bar: Units by color (Black=33.6%, most popular).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09728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1097280"/>
            <a:ext cx="2743200" cy="3657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🗺️ Treemap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150876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Hierarchy of Region → Category. North America Bikes = $55.4M = 68.4% of all revenue.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2743200" cy="36576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🥧 Pie &amp; Doughnut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06908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Bikes=82.5%, Components=14.6% of revenue. Store channel = 57% of electronics sales.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65760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🌳 Decomposition Tree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06908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Revenue drilled from $81M → 3 Regions → 6 Categories → Top 6 Models for root-cause analysis.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657600"/>
            <a:ext cx="2743200" cy="365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HR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06908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50 employees, 58% Male, Avg Salary $2,457. Production=28% headcount. Training cost tripled 2012→2013.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3657600"/>
            <a:ext cx="2743200" cy="2240280"/>
          </a:xfrm>
          <a:prstGeom prst="rect">
            <a:avLst/>
          </a:prstGeom>
          <a:solidFill>
            <a:srgbClr val="0D1B4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52560" y="3657600"/>
            <a:ext cx="274320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📐 % Calculations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0" y="406908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Profit%=57% (Electronics). Segment share uses formula: (Value÷Total)×100 across all datasets.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2026-04-01T09:42:37Z</dcterms:created>
  <dcterms:modified xsi:type="dcterms:W3CDTF">2026-04-01T09:42:37Z</dcterms:modified>
</cp:coreProperties>
</file>