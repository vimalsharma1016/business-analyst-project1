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drawingml.chart+xml" PartName="/ppt/charts/chart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drawingml.chart+xml" PartName="/ppt/charts/chart2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drawingml.chart+xml" PartName="/ppt/charts/chart3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drawingml.chart+xml" PartName="/ppt/charts/chart4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 ?><Relationships xmlns="http://schemas.openxmlformats.org/package/2006/relationships"><Relationship Id="rId1" Target="NULL" TargetMode="External" Type="http://schemas.openxmlformats.org/officeDocument/2006/relationships/oleObject"/></Relationships>
</file>

<file path=ppt/charts/_rels/chart2.xml.rels><?xml version="1.0" encoding="UTF-8" standalone="yes" ?><Relationships xmlns="http://schemas.openxmlformats.org/package/2006/relationships"><Relationship Id="rId1" Target="NULL" TargetMode="External" Type="http://schemas.openxmlformats.org/officeDocument/2006/relationships/oleObject"/></Relationships>
</file>

<file path=ppt/charts/_rels/chart3.xml.rels><?xml version="1.0" encoding="UTF-8" standalone="yes" ?><Relationships xmlns="http://schemas.openxmlformats.org/package/2006/relationships"><Relationship Id="rId1" Target="NULL" TargetMode="External" Type="http://schemas.openxmlformats.org/officeDocument/2006/relationships/oleObject"/></Relationships>
</file>

<file path=ppt/charts/_rels/chart4.xml.rels><?xml version="1.0" encoding="UTF-8" standalone="yes" ?><Relationships xmlns="http://schemas.openxmlformats.org/package/2006/relationships"><Relationship Id="rId1" Target="NULL" TargetMode="External" Type="http://schemas.openxmlformats.org/officeDocument/2006/relationships/oleObject"/></Relationships>
</file>

<file path=ppt/charts/_rels/chart5.xml.rels><?xml version="1.0" encoding="UTF-8" standalone="yes" ?><Relationships xmlns="http://schemas.openxmlformats.org/package/2006/relationships"><Relationship Id="rId1" Target="NULL" TargetMode="External" Type="http://schemas.openxmlformats.org/officeDocument/2006/relationships/oleObject"/></Relationships>
</file>

<file path=ppt/charts/_rels/chart6.xml.rels><?xml version="1.0" encoding="UTF-8" standalone="yes" ?><Relationships xmlns="http://schemas.openxmlformats.org/package/2006/relationships"><Relationship Id="rId1" Target="NULL" TargetMode="External" Type="http://schemas.openxmlformats.org/officeDocument/2006/relationships/oleObject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Employees Who Left (16.1%)</c:v>
                </c:pt>
                <c:pt idx="1">
                  <c:v>Employees Who Stayed (83.9%)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237</c:v>
                </c:pt>
                <c:pt idx="1">
                  <c:v>1233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Attrition Rate by Age Group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18–24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45–54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39.2</c:v>
                </c:pt>
                <c:pt idx="1">
                  <c:v>20.2</c:v>
                </c:pt>
                <c:pt idx="2">
                  <c:v>10.1</c:v>
                </c:pt>
                <c:pt idx="3">
                  <c:v>10.2</c:v>
                </c:pt>
                <c:pt idx="4">
                  <c:v>15.9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Average Monthly Income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Income ($)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Employees Who Left</c:v>
                  </c:pt>
                  <c:pt idx="1">
                    <c:v>Employees Who Stayed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4787</c:v>
                </c:pt>
                <c:pt idx="1">
                  <c:v>6833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Attrition by Department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Human Resources</c:v>
                  </c:pt>
                  <c:pt idx="2">
                    <c:v>Research &amp; Dev.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</c:v>
                </c:pt>
                <c:pt idx="1">
                  <c:v>19</c:v>
                </c:pt>
                <c:pt idx="2">
                  <c:v>13.8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Attrition by Gender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14.8</c:v>
                </c:pt>
                <c:pt idx="1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Attrition by Marital Status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Single</c:v>
                  </c:pt>
                  <c:pt idx="1">
                    <c:v>Married</c:v>
                  </c:pt>
                  <c:pt idx="2">
                    <c:v>Divorced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25.5</c:v>
                </c:pt>
                <c:pt idx="1">
                  <c:v>12.5</c:v>
                </c:pt>
                <c:pt idx="2">
                  <c:v>10.1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3A1B">
              <a:alpha val="60000"/>
            </a:srgbClr>
          </a:solidFill>
          <a:ln w="12700">
            <a:solidFill>
              <a:srgbClr val="1A3A1B">
                <a:alpha val="60000"/>
              </a:srgbClr>
            </a:solidFill>
            <a:prstDash val="solid"/>
          </a:ln>
        </p:spPr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377440" cy="1088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Attrition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Report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employees leave — and what we can do about it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HR Director  |  Survey Data: 1,470 Employees  |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1920240" cy="13716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192024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1,470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7432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Surveyed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50592" y="868680"/>
            <a:ext cx="1920240" cy="13716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50592" y="868680"/>
            <a:ext cx="19202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50592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450592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26864" y="868680"/>
            <a:ext cx="1920240" cy="13716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6864" y="868680"/>
            <a:ext cx="192024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6864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237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626864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03136" y="868680"/>
            <a:ext cx="1920240" cy="13716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03136" y="868680"/>
            <a:ext cx="1920240" cy="91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03136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1,233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803136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Stayed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2423160"/>
            <a:ext cx="8595360" cy="2377440"/>
          </a:xfrm>
          <a:prstGeom prst="rect">
            <a:avLst/>
          </a:prstGeom>
          <a:solidFill>
            <a:srgbClr val="F0F7EC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2514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28803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employees (under 35) leave at significantly higher rates — up to 39% for the 18–24 age group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work overtime are 3× more likely to leave (30.5%) compared to those who do not (10.4%)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 earned 30% less on average ($4,787 vs $6,833 monthly income)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 has the highest attrition rate (20.6%), followed by Human Resources (19.0%)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leave at more than double the rate (25.5%) compared to married (12.5%) or divorced (10.1%)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Attrition Rate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274320" y="82296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663440" y="822960"/>
            <a:ext cx="4160520" cy="109728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663440" y="86868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16.1%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4663440" y="1463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— 237 of 1,470 employees have left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63440" y="2103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63440" y="2514600"/>
            <a:ext cx="4160520" cy="6858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2569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Tourism/Travel Industry Avg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040880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~18–22%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2862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is performing better than industry average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3337560"/>
            <a:ext cx="4160520" cy="6858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3392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target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040880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&lt;10%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54880" y="3685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room to improve significantly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1: Age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employees leave at dramatically higher rates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50292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960120"/>
            <a:ext cx="3246120" cy="749808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577840" y="960120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15000" y="1014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years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589520" y="99669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39.2%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715000" y="1353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group — 1 in 3 leave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577840" y="1837944"/>
            <a:ext cx="3246120" cy="749808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77840" y="1837944"/>
            <a:ext cx="64008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years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89520" y="1874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715000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highest — early career pressure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577840" y="2715768"/>
            <a:ext cx="3246120" cy="749808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77840" y="2715768"/>
            <a:ext cx="64008" cy="7498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15000" y="2770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years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589520" y="27523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7150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rate — established career phase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577840" y="3593592"/>
            <a:ext cx="3246120" cy="749808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577840" y="3593592"/>
            <a:ext cx="64008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1500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(left)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589520" y="36301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33.6 yrs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5715000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37.6 years for employees who stayed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2: Monthly Income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leave earn significantly less than those who stay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1005840"/>
            <a:ext cx="3246120" cy="123444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577840" y="10515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$4,787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5577840" y="1645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— employees who LEFT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577840" y="2377440"/>
            <a:ext cx="3246120" cy="123444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577840" y="24231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$6,833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5577840" y="3017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— employees who STAYED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577840" y="3749040"/>
            <a:ext cx="324612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23560" y="37947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income gap between leavers and stayers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3: Years at the Company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employees are at higher risk of leaving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" y="1051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year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600200" y="1124712"/>
            <a:ext cx="477316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4808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years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00200" y="1856232"/>
            <a:ext cx="3845052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6692" y="1783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600200" y="2587752"/>
            <a:ext cx="2784348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75988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years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600200" y="3319272"/>
            <a:ext cx="1988820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80460" y="3246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432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600200" y="4050792"/>
            <a:ext cx="1193292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84932" y="3977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" y="4709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Approximate attrition rates by tenure group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77840" y="1005840"/>
            <a:ext cx="3246120" cy="347472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69280" y="10972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 comparison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0" y="1554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 years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669280" y="20574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years at company for leavers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2514600"/>
            <a:ext cx="288036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 years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5669280" y="30906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years at company for stayers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77840" y="3611880"/>
            <a:ext cx="3246120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23560" y="365760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early retention programs are critical in the first 2 years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&amp; Role Analysis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274320" y="82296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attrition by job role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34440"/>
          <a:ext cx="4206240" cy="2148840"/>
        </p:xfrm>
        <a:graphic>
          <a:graphicData uri="http://schemas.openxmlformats.org/drawingml/2006/table">
            <a:tbl>
              <a:tblPr/>
              <a:tblGrid>
                <a:gridCol w="1920240"/>
                <a:gridCol w="594360"/>
                <a:gridCol w="594360"/>
                <a:gridCol w="731520"/>
              </a:tblGrid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Job 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Sales Representative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39.8%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Laboratory Technician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259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</a:rPr>
                        <a:t>23.9%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Human Resources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</a:rPr>
                        <a:t>23.1%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Sales Executive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</a:rPr>
                        <a:t>17.5%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Research Scientist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</a:rPr>
                        <a:t>16.1%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Research Director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</a:rPr>
                        <a:t>2.5%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274320" y="3566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Effect on Attrition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74320" y="3977640"/>
            <a:ext cx="4023360" cy="82296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274320" y="39776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38912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Overtime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38912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30.5% attrition rate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200400" y="4023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higher risk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63440" y="3977640"/>
            <a:ext cx="4023360" cy="82296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3977640"/>
            <a:ext cx="64008" cy="8229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28032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Overtime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28032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10.4% attrition rate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589520" y="4023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risk level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Contributing Factors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274320" y="82296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82296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291840"/>
            <a:ext cx="2743200" cy="146304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274320" y="329184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36576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is small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65760" y="3767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(17%) vs Female (14.8%) — only a 2.2% difference. Gender alone is not a strong predictor.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154680" y="3291840"/>
            <a:ext cx="2743200" cy="146304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3154680" y="329184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4612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at highest risk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246120" y="3767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 attrition — more than double the rate of married (12.5%) or divorced (10.1%) employees.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035040" y="3291840"/>
            <a:ext cx="2743200" cy="146304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035040" y="3291840"/>
            <a:ext cx="27432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2648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 matters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26480" y="3767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priorities, financial stability and family commitments may influence retention decisions.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795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to reduce attrition at Green Destinations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06240" cy="11430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69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66160" y="1097280"/>
            <a:ext cx="822960" cy="2286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520440" y="1088136"/>
            <a:ext cx="89611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108813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compensation for lower-paid roles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66420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Sales Representatives, Lab Technicians, and HR staff who show highest attrition. Closing the 30% income gap is the single biggest lever.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005840"/>
            <a:ext cx="4206240" cy="11430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00584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069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01000" y="1097280"/>
            <a:ext cx="822960" cy="2286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955280" y="1088136"/>
            <a:ext cx="89611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108813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4632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excessive overtime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166420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on overtime leave at 3× the rate. Review workload distribution, hire additional staff in overloaded departments, and set clear overtime limits.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286000"/>
            <a:ext cx="64008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2350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66160" y="2377440"/>
            <a:ext cx="822960" cy="2286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520440" y="2368296"/>
            <a:ext cx="896112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20440" y="236829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11480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early onboarding programs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11480" y="294436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highest in the first 2 years. Introduce structured mentoring, 30/60/90-day check-ins, and buddy systems for all new joiners.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2286000"/>
            <a:ext cx="4206240" cy="11430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2286000"/>
            <a:ext cx="64008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2350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001000" y="2377440"/>
            <a:ext cx="822960" cy="2286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955280" y="2368296"/>
            <a:ext cx="896112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55280" y="236829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46320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for young employees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846320" y="294436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18–34 age group is at greatest risk. Offer clear career pathways, learning &amp; development budgets, and faster promotion cycles to retain talent.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74320" y="3566160"/>
            <a:ext cx="4206240" cy="11430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74320" y="356616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3630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566160" y="3657600"/>
            <a:ext cx="822960" cy="2286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520440" y="3648456"/>
            <a:ext cx="89611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520440" y="364845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1148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Sales department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11480" y="422452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20.6% attrition and Sales Representatives at 39.8%, urgent intervention is needed — review targets, team culture, and manager effectiveness.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09160" y="3566160"/>
            <a:ext cx="4206240" cy="1143000"/>
          </a:xfrm>
          <a:prstGeom prst="rect">
            <a:avLst/>
          </a:prstGeom>
          <a:solidFill>
            <a:srgbClr val="F0F7EC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709160" y="3566160"/>
            <a:ext cx="64008" cy="11430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46320" y="3630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8001000" y="3657600"/>
            <a:ext cx="822960" cy="228600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955280" y="3648456"/>
            <a:ext cx="896112" cy="23774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955280" y="364845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84632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programs for single employees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4846320" y="422452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leave at 25.5%. Social connection initiatives, flexible working, and wellness programs can help improve engagement and loyalty.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| HR Attrition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3A1B">
              <a:alpha val="60000"/>
            </a:srgbClr>
          </a:solidFill>
          <a:ln w="12700">
            <a:solidFill>
              <a:srgbClr val="1A3A1B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HR Attrition Analysis</a:t>
            </a:r>
            <a:endParaRPr lang="en-US" sz="1600" dirty="0"/>
          </a:p>
        </p:txBody>
      </p:sp>
      <p:pic>
        <p:nvPicPr>
          <p:cNvPr id="6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74320"/>
            <a:ext cx="2560320" cy="1170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788920"/>
            <a:ext cx="457200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971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to remember: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CD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 overall attrition rate — 237 employees have left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CD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Younger, lower-income employees with overtime are most at risk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CD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 needs urgent attention (20.6% rate)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CD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(0–2 yr) and single employees need targeted engagement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Green Destinations Employee Survey  |  Total respondents: 1,470  |  Analysis conducted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Destinations – HR Attrition Analysis</dc:title>
  <dc:subject>PptxGenJS Presentation</dc:subject>
  <dc:creator>PptxGenJS</dc:creator>
  <cp:lastModifiedBy>PptxGenJS</cp:lastModifiedBy>
  <cp:revision>1</cp:revision>
  <dcterms:created xsi:type="dcterms:W3CDTF">2026-03-31T11:20:59Z</dcterms:created>
  <dcterms:modified xsi:type="dcterms:W3CDTF">2026-03-31T11:20:59Z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1446742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